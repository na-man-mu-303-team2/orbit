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9e2376d8748b3" /><Relationship Type="http://schemas.openxmlformats.org/officeDocument/2006/relationships/extended-properties" Target="/docProps/app.xml" Id="R7cb366c8fd01464c" /><Relationship Type="http://schemas.openxmlformats.org/officeDocument/2006/relationships/officeDocument" Target="/ppt/presentation.xml" Id="Ra391f67d63f440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087a051ebb477d"/>
  </p:sldMasterIdLst>
  <p:notesMasterIdLst>
    <p:notesMasterId xmlns:r="http://schemas.openxmlformats.org/officeDocument/2006/relationships" r:id="R868b5fa5817742d0"/>
  </p:notesMasterIdLst>
  <p:sldIdLst>
    <p:sldId xmlns:r="http://schemas.openxmlformats.org/officeDocument/2006/relationships" id="256" r:id="R31571903ec57405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3896e53f98482b" /><Relationship Type="http://schemas.openxmlformats.org/officeDocument/2006/relationships/slideMaster" Target="/ppt/slideMasters/slideMaster1.xml" Id="Rb0087a051ebb477d" /><Relationship Type="http://schemas.openxmlformats.org/officeDocument/2006/relationships/notesMaster" Target="/ppt/notesMasters/notesMaster1.xml" Id="R868b5fa5817742d0" /><Relationship Type="http://schemas.openxmlformats.org/officeDocument/2006/relationships/presProps" Target="/ppt/presProps.xml" Id="R9dedc1f976314602" /><Relationship Type="http://schemas.openxmlformats.org/officeDocument/2006/relationships/tableStyles" Target="/ppt/tableStyles.xml" Id="R3c41d808c3984b3c" /><Relationship Type="http://schemas.openxmlformats.org/officeDocument/2006/relationships/slide" Target="/ppt/slides/slide1.xml" Id="R31571903ec57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9919a90ec748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f4ff1192bf4abe" /><Relationship Type="http://schemas.openxmlformats.org/officeDocument/2006/relationships/notesMaster" Target="/ppt/notesMasters/notesMaster1.xml" Id="Red386b6e7495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70e61dee5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c512927394c76" /><Relationship Type="http://schemas.openxmlformats.org/officeDocument/2006/relationships/slideLayout" Target="/ppt/slideLayouts/slideLayout1.xml" Id="R8d0e400e63c2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0e400e63c2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ac1d86fce4e79" /><Relationship Type="http://schemas.openxmlformats.org/officeDocument/2006/relationships/image" Target="/ppt/media/image.png" Id="Rf33d01b56fd44078" /><Relationship Type="http://schemas.openxmlformats.org/officeDocument/2006/relationships/image" Target="/ppt/media/image2.png" Id="R8367e08a23c94898" /><Relationship Type="http://schemas.openxmlformats.org/officeDocument/2006/relationships/image" Target="/ppt/media/image3.png" Id="Re7dc355d45004677" /><Relationship Type="http://schemas.openxmlformats.org/officeDocument/2006/relationships/image" Target="/ppt/media/image4.png" Id="R54fc920cad8b4d15" /><Relationship Type="http://schemas.openxmlformats.org/officeDocument/2006/relationships/notesSlide" Target="/ppt/notesSlides/notesSlide1.xml" Id="Rd29135cb60b74d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BCFC7F5-7C2D-4383-B09D-0CDE0DD6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5BE7"/>
                </a:solidFill>
              </a:defRPr>
            </a:pPr>
            <a:r>
              <a:rPr sz="1650" b="0">
                <a:solidFill>
                  <a:srgbClr val="0B5BE7"/>
                </a:solidFill>
              </a:rPr>
              <a:t>06</a:t>
            </a:r>
          </a:p>
        </p:txBody>
      </p:sp>
      <p:sp>
        <p:nvSpPr>
          <p:cNvPr id="2" name="header-divider">
            <a:extLst xmlns:a="http://schemas.openxmlformats.org/drawingml/2006/main">
              <a:ext uri="{FF2B5EF4-FFF2-40B4-BE49-F238E27FC236}">
                <a16:creationId xmlns:a16="http://schemas.microsoft.com/office/drawing/2014/main" id="{C9FED261-C333-4CFF-8639-788F0FD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27BE833-566D-4686-86E1-1D426B5C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19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TECHNICAL CHALLENGE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9015D6-155B-47BB-9A75-14CFB88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876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11111"/>
                </a:solidFill>
              </a:defRPr>
            </a:pPr>
            <a:r>
              <a:rPr sz="3975" b="1">
                <a:solidFill>
                  <a:srgbClr val="111111"/>
                </a:solidFill>
              </a:rPr>
              <a:t>AI PPT 생성 파이프라인의 상태 정합성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41906F-77EA-4F4A-8AAD-A62C0306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287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5C5C"/>
                </a:solidFill>
              </a:defRPr>
            </a:pPr>
            <a:r>
              <a:rPr sz="1875" b="0">
                <a:solidFill>
                  <a:srgbClr val="5C5C5C"/>
                </a:solidFill>
              </a:rPr>
              <a:t>분리된 큐 시스템에서 단일 DB 기반 실행 모델로</a:t>
            </a:r>
          </a:p>
        </p:txBody>
      </p:sp>
      <p:sp>
        <p:nvSpPr>
          <p:cNvPr id="6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6DA0C926-28D0-44BB-A45A-5EE5B9B9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4785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왜 문제가 생겼나?</a:t>
            </a:r>
          </a:p>
        </p:txBody>
      </p:sp>
      <p:sp>
        <p:nvSpPr>
          <p:cNvPr id="7" name="left-heading-rule">
            <a:extLst xmlns:a="http://schemas.openxmlformats.org/drawingml/2006/main">
              <a:ext uri="{FF2B5EF4-FFF2-40B4-BE49-F238E27FC236}">
                <a16:creationId xmlns:a16="http://schemas.microsoft.com/office/drawing/2014/main" id="{C05D0EBE-203C-4696-95BF-F4B037A6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C684BC0E-A69C-4E13-8874-16622AE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478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어떻게 해결했나?</a:t>
            </a:r>
          </a:p>
        </p:txBody>
      </p:sp>
      <p:sp>
        <p:nvSpPr>
          <p:cNvPr id="9" name="right-heading-rule">
            <a:extLst xmlns:a="http://schemas.openxmlformats.org/drawingml/2006/main">
              <a:ext uri="{FF2B5EF4-FFF2-40B4-BE49-F238E27FC236}">
                <a16:creationId xmlns:a16="http://schemas.microsoft.com/office/drawing/2014/main" id="{95B0FD37-4A21-4DF8-AB1C-B668A1CC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enter-divider-top">
            <a:extLst xmlns:a="http://schemas.openxmlformats.org/drawingml/2006/main">
              <a:ext uri="{FF2B5EF4-FFF2-40B4-BE49-F238E27FC236}">
                <a16:creationId xmlns:a16="http://schemas.microsoft.com/office/drawing/2014/main" id="{1BFDC216-4659-442E-9CD0-E5C8CB92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828800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enter-divider-bottom">
            <a:extLst xmlns:a="http://schemas.openxmlformats.org/drawingml/2006/main">
              <a:ext uri="{FF2B5EF4-FFF2-40B4-BE49-F238E27FC236}">
                <a16:creationId xmlns:a16="http://schemas.microsoft.com/office/drawing/2014/main" id="{011DB628-8176-49D1-9F54-B1FD9031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52975"/>
            <a:ext cx="190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-queued-waiting-start">
            <a:extLst xmlns:a="http://schemas.openxmlformats.org/drawingml/2006/main">
              <a:ext uri="{FF2B5EF4-FFF2-40B4-BE49-F238E27FC236}">
                <a16:creationId xmlns:a16="http://schemas.microsoft.com/office/drawing/2014/main" id="{6991503E-5F26-4AD3-A99E-21AB9728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14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map-queued-waiting-end">
            <a:extLst xmlns:a="http://schemas.openxmlformats.org/drawingml/2006/main">
              <a:ext uri="{FF2B5EF4-FFF2-40B4-BE49-F238E27FC236}">
                <a16:creationId xmlns:a16="http://schemas.microsoft.com/office/drawing/2014/main" id="{FE843CC9-CB89-4DE9-BC53-7118FAB6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14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map-queued-waiting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952750" y="3719513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15" name="map-running-active-start">
            <a:extLst xmlns:a="http://schemas.openxmlformats.org/drawingml/2006/main">
              <a:ext uri="{FF2B5EF4-FFF2-40B4-BE49-F238E27FC236}">
                <a16:creationId xmlns:a16="http://schemas.microsoft.com/office/drawing/2014/main" id="{60FCD6A5-2BD2-431B-A866-8E9A845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076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map-running-active-end">
            <a:extLst xmlns:a="http://schemas.openxmlformats.org/drawingml/2006/main">
              <a:ext uri="{FF2B5EF4-FFF2-40B4-BE49-F238E27FC236}">
                <a16:creationId xmlns:a16="http://schemas.microsoft.com/office/drawing/2014/main" id="{324CED66-3428-4453-8A8E-78B058EE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76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4" name="map-running-active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52750" y="4081463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18" name="map-running-failed-start">
            <a:extLst xmlns:a="http://schemas.openxmlformats.org/drawingml/2006/main">
              <a:ext uri="{FF2B5EF4-FFF2-40B4-BE49-F238E27FC236}">
                <a16:creationId xmlns:a16="http://schemas.microsoft.com/office/drawing/2014/main" id="{A473374C-5CE1-466B-B38C-BBF5FE3B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076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map-running-failed-end">
            <a:extLst xmlns:a="http://schemas.openxmlformats.org/drawingml/2006/main">
              <a:ext uri="{FF2B5EF4-FFF2-40B4-BE49-F238E27FC236}">
                <a16:creationId xmlns:a16="http://schemas.microsoft.com/office/drawing/2014/main" id="{3A5E172F-7418-4D66-A9DE-533B953B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810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7" name="map-running-failed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952750" y="4081463"/>
            <a:ext cx="1628775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1" name="map-failed-active-start">
            <a:extLst xmlns:a="http://schemas.openxmlformats.org/drawingml/2006/main">
              <a:ext uri="{FF2B5EF4-FFF2-40B4-BE49-F238E27FC236}">
                <a16:creationId xmlns:a16="http://schemas.microsoft.com/office/drawing/2014/main" id="{5582152D-31C1-4D76-8266-AB69C1A3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810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map-failed-active-end">
            <a:extLst xmlns:a="http://schemas.openxmlformats.org/drawingml/2006/main">
              <a:ext uri="{FF2B5EF4-FFF2-40B4-BE49-F238E27FC236}">
                <a16:creationId xmlns:a16="http://schemas.microsoft.com/office/drawing/2014/main" id="{86DF5D21-C9FC-4DA5-91E2-6EAE714E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76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0" name="map-failed-active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2952750" y="4081463"/>
            <a:ext cx="1628775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4" name="left-db-card">
            <a:extLst xmlns:a="http://schemas.openxmlformats.org/drawingml/2006/main">
              <a:ext uri="{FF2B5EF4-FFF2-40B4-BE49-F238E27FC236}">
                <a16:creationId xmlns:a16="http://schemas.microsoft.com/office/drawing/2014/main" id="{EDAF16C7-A27D-4627-AC30-CE05ED4C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152650" cy="26860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7A7A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d01b56fd44078"/>
          <a:stretch xmlns:a="http://schemas.openxmlformats.org/drawingml/2006/main"/>
        </p:blipFill>
        <p:spPr>
          <a:xfrm xmlns:a="http://schemas.openxmlformats.org/drawingml/2006/main">
            <a:off x="990600" y="27241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6" name="postgres-left-label">
            <a:extLst xmlns:a="http://schemas.openxmlformats.org/drawingml/2006/main">
              <a:ext uri="{FF2B5EF4-FFF2-40B4-BE49-F238E27FC236}">
                <a16:creationId xmlns:a16="http://schemas.microsoft.com/office/drawing/2014/main" id="{5007674E-2BF9-49A0-BB43-D82F9D7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527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4FC8"/>
                </a:solidFill>
              </a:defRPr>
            </a:pPr>
            <a:r>
              <a:rPr sz="1425" b="1">
                <a:solidFill>
                  <a:srgbClr val="0A4FC8"/>
                </a:solidFill>
              </a:rPr>
              <a:t>PostgreSQL</a:t>
            </a:r>
          </a:p>
        </p:txBody>
      </p:sp>
      <p:sp>
        <p:nvSpPr>
          <p:cNvPr id="27" name="postgres-left-subtitle">
            <a:extLst xmlns:a="http://schemas.openxmlformats.org/drawingml/2006/main">
              <a:ext uri="{FF2B5EF4-FFF2-40B4-BE49-F238E27FC236}">
                <a16:creationId xmlns:a16="http://schemas.microsoft.com/office/drawing/2014/main" id="{4013FC2F-9D60-4587-8B49-30F2770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5BE7"/>
                </a:solidFill>
              </a:defRPr>
            </a:pPr>
            <a:r>
              <a:rPr sz="1425" b="1">
                <a:solidFill>
                  <a:srgbClr val="0B5BE7"/>
                </a:solidFill>
              </a:rPr>
              <a:t>진행 상태</a:t>
            </a:r>
          </a:p>
        </p:txBody>
      </p:sp>
      <p:sp>
        <p:nvSpPr>
          <p:cNvPr id="28" name="db-state-row-1">
            <a:extLst xmlns:a="http://schemas.openxmlformats.org/drawingml/2006/main">
              <a:ext uri="{FF2B5EF4-FFF2-40B4-BE49-F238E27FC236}">
                <a16:creationId xmlns:a16="http://schemas.microsoft.com/office/drawing/2014/main" id="{DF83EC53-8274-46AB-9941-1A63444D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504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9" name="db-state-label-1">
            <a:extLst xmlns:a="http://schemas.openxmlformats.org/drawingml/2006/main">
              <a:ext uri="{FF2B5EF4-FFF2-40B4-BE49-F238E27FC236}">
                <a16:creationId xmlns:a16="http://schemas.microsoft.com/office/drawing/2014/main" id="{73D8FACD-A4A8-4A5F-B686-42B60281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86150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queued</a:t>
            </a:r>
          </a:p>
        </p:txBody>
      </p:sp>
      <p:sp>
        <p:nvSpPr>
          <p:cNvPr id="30" name="db-state-row-2">
            <a:extLst xmlns:a="http://schemas.openxmlformats.org/drawingml/2006/main">
              <a:ext uri="{FF2B5EF4-FFF2-40B4-BE49-F238E27FC236}">
                <a16:creationId xmlns:a16="http://schemas.microsoft.com/office/drawing/2014/main" id="{01A92ACA-4DF0-4BE6-9AD1-52375DB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1504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31" name="db-state-label-2">
            <a:extLst xmlns:a="http://schemas.openxmlformats.org/drawingml/2006/main">
              <a:ext uri="{FF2B5EF4-FFF2-40B4-BE49-F238E27FC236}">
                <a16:creationId xmlns:a16="http://schemas.microsoft.com/office/drawing/2014/main" id="{219C4220-F0FA-45BE-BF41-86C65421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5762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5BE7"/>
                </a:solidFill>
              </a:defRPr>
            </a:pPr>
            <a:r>
              <a:rPr sz="1275" b="0">
                <a:solidFill>
                  <a:srgbClr val="0B5BE7"/>
                </a:solidFill>
              </a:rPr>
              <a:t>running</a:t>
            </a:r>
          </a:p>
        </p:txBody>
      </p:sp>
      <p:sp>
        <p:nvSpPr>
          <p:cNvPr id="32" name="db-state-row-3">
            <a:extLst xmlns:a="http://schemas.openxmlformats.org/drawingml/2006/main">
              <a:ext uri="{FF2B5EF4-FFF2-40B4-BE49-F238E27FC236}">
                <a16:creationId xmlns:a16="http://schemas.microsoft.com/office/drawing/2014/main" id="{E06571E4-60FD-40D3-A6C7-E78E1571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1504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33" name="db-state-label-3">
            <a:extLst xmlns:a="http://schemas.openxmlformats.org/drawingml/2006/main">
              <a:ext uri="{FF2B5EF4-FFF2-40B4-BE49-F238E27FC236}">
                <a16:creationId xmlns:a16="http://schemas.microsoft.com/office/drawing/2014/main" id="{0CFFF8F2-D63F-4865-BEB4-AC5A77A5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29100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A4A4A"/>
                </a:solidFill>
              </a:defRPr>
            </a:pPr>
            <a:r>
              <a:rPr sz="1275" b="0">
                <a:solidFill>
                  <a:srgbClr val="4A4A4A"/>
                </a:solidFill>
              </a:rPr>
              <a:t>completed</a:t>
            </a:r>
          </a:p>
        </p:txBody>
      </p:sp>
      <p:sp>
        <p:nvSpPr>
          <p:cNvPr id="34" name="db-state-row-4">
            <a:extLst xmlns:a="http://schemas.openxmlformats.org/drawingml/2006/main">
              <a:ext uri="{FF2B5EF4-FFF2-40B4-BE49-F238E27FC236}">
                <a16:creationId xmlns:a16="http://schemas.microsoft.com/office/drawing/2014/main" id="{EA0B764A-74D6-4EA7-A7F8-67564C90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04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35" name="db-state-label-4">
            <a:extLst xmlns:a="http://schemas.openxmlformats.org/drawingml/2006/main">
              <a:ext uri="{FF2B5EF4-FFF2-40B4-BE49-F238E27FC236}">
                <a16:creationId xmlns:a16="http://schemas.microsoft.com/office/drawing/2014/main" id="{D9012C49-41B6-41BA-AA53-409CC31F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A4A4A"/>
                </a:solidFill>
              </a:defRPr>
            </a:pPr>
            <a:r>
              <a:rPr sz="1275" b="0">
                <a:solidFill>
                  <a:srgbClr val="4A4A4A"/>
                </a:solidFill>
              </a:rPr>
              <a:t>failed</a:t>
            </a:r>
          </a:p>
        </p:txBody>
      </p:sp>
      <p:sp>
        <p:nvSpPr>
          <p:cNvPr id="36" name="db-state-ellipsis">
            <a:extLst xmlns:a="http://schemas.openxmlformats.org/drawingml/2006/main">
              <a:ext uri="{FF2B5EF4-FFF2-40B4-BE49-F238E27FC236}">
                <a16:creationId xmlns:a16="http://schemas.microsoft.com/office/drawing/2014/main" id="{E5917341-4097-4CB4-85A8-33DA45C6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434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44444"/>
                </a:solidFill>
              </a:defRPr>
            </a:pPr>
            <a:r>
              <a:rPr sz="1875" b="0">
                <a:solidFill>
                  <a:srgbClr val="444444"/>
                </a:solidFill>
              </a:rPr>
              <a:t>⋮</a:t>
            </a:r>
          </a:p>
        </p:txBody>
      </p:sp>
      <p:sp>
        <p:nvSpPr>
          <p:cNvPr id="37" name="left-queue-card">
            <a:extLst xmlns:a="http://schemas.openxmlformats.org/drawingml/2006/main">
              <a:ext uri="{FF2B5EF4-FFF2-40B4-BE49-F238E27FC236}">
                <a16:creationId xmlns:a16="http://schemas.microsoft.com/office/drawing/2014/main" id="{CB388FA9-0E53-4C18-A5FB-56D05F60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2152650" cy="26860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7A7A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7e08a23c94898"/>
          <a:stretch xmlns:a="http://schemas.openxmlformats.org/drawingml/2006/main"/>
        </p:blipFill>
        <p:spPr>
          <a:xfrm xmlns:a="http://schemas.openxmlformats.org/drawingml/2006/main">
            <a:off x="4781550" y="272415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39" name="redis-label">
            <a:extLst xmlns:a="http://schemas.openxmlformats.org/drawingml/2006/main">
              <a:ext uri="{FF2B5EF4-FFF2-40B4-BE49-F238E27FC236}">
                <a16:creationId xmlns:a16="http://schemas.microsoft.com/office/drawing/2014/main" id="{808A98BE-9A1F-429C-9921-163D081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527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BullMQ + Redis</a:t>
            </a:r>
          </a:p>
        </p:txBody>
      </p:sp>
      <p:sp>
        <p:nvSpPr>
          <p:cNvPr id="40" name="redis-subtitle">
            <a:extLst xmlns:a="http://schemas.openxmlformats.org/drawingml/2006/main">
              <a:ext uri="{FF2B5EF4-FFF2-40B4-BE49-F238E27FC236}">
                <a16:creationId xmlns:a16="http://schemas.microsoft.com/office/drawing/2014/main" id="{48A0490C-F5E1-42F8-B805-B309399A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5BE7"/>
                </a:solidFill>
              </a:defRPr>
            </a:pPr>
            <a:r>
              <a:rPr sz="1425" b="1">
                <a:solidFill>
                  <a:srgbClr val="0B5BE7"/>
                </a:solidFill>
              </a:rPr>
              <a:t>실행 메시지</a:t>
            </a:r>
          </a:p>
        </p:txBody>
      </p:sp>
      <p:sp>
        <p:nvSpPr>
          <p:cNvPr id="41" name="queue-state-row-1">
            <a:extLst xmlns:a="http://schemas.openxmlformats.org/drawingml/2006/main">
              <a:ext uri="{FF2B5EF4-FFF2-40B4-BE49-F238E27FC236}">
                <a16:creationId xmlns:a16="http://schemas.microsoft.com/office/drawing/2014/main" id="{6768E3C5-A258-4C49-B7B4-F680301D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14954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42" name="queue-state-label-1">
            <a:extLst xmlns:a="http://schemas.openxmlformats.org/drawingml/2006/main">
              <a:ext uri="{FF2B5EF4-FFF2-40B4-BE49-F238E27FC236}">
                <a16:creationId xmlns:a16="http://schemas.microsoft.com/office/drawing/2014/main" id="{7E104C41-BEF2-4C14-A594-5119E9B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86150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waiting</a:t>
            </a:r>
          </a:p>
        </p:txBody>
      </p:sp>
      <p:sp>
        <p:nvSpPr>
          <p:cNvPr id="43" name="queue-state-row-2">
            <a:extLst xmlns:a="http://schemas.openxmlformats.org/drawingml/2006/main">
              <a:ext uri="{FF2B5EF4-FFF2-40B4-BE49-F238E27FC236}">
                <a16:creationId xmlns:a16="http://schemas.microsoft.com/office/drawing/2014/main" id="{81202A53-57E5-4F78-93AD-ABFAD019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57625"/>
            <a:ext cx="14954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44" name="queue-state-label-2">
            <a:extLst xmlns:a="http://schemas.openxmlformats.org/drawingml/2006/main">
              <a:ext uri="{FF2B5EF4-FFF2-40B4-BE49-F238E27FC236}">
                <a16:creationId xmlns:a16="http://schemas.microsoft.com/office/drawing/2014/main" id="{9CE0C1DE-4116-4EFD-B638-285DF54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5762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5BE7"/>
                </a:solidFill>
              </a:defRPr>
            </a:pPr>
            <a:r>
              <a:rPr sz="1275" b="0">
                <a:solidFill>
                  <a:srgbClr val="0B5BE7"/>
                </a:solidFill>
              </a:rPr>
              <a:t>active</a:t>
            </a:r>
          </a:p>
        </p:txBody>
      </p:sp>
      <p:sp>
        <p:nvSpPr>
          <p:cNvPr id="45" name="queue-state-row-3">
            <a:extLst xmlns:a="http://schemas.openxmlformats.org/drawingml/2006/main">
              <a:ext uri="{FF2B5EF4-FFF2-40B4-BE49-F238E27FC236}">
                <a16:creationId xmlns:a16="http://schemas.microsoft.com/office/drawing/2014/main" id="{5E01027A-27C5-419E-8018-C4595D4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29100"/>
            <a:ext cx="14954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46" name="queue-state-label-3">
            <a:extLst xmlns:a="http://schemas.openxmlformats.org/drawingml/2006/main">
              <a:ext uri="{FF2B5EF4-FFF2-40B4-BE49-F238E27FC236}">
                <a16:creationId xmlns:a16="http://schemas.microsoft.com/office/drawing/2014/main" id="{0C74252F-8F71-4D06-81BD-771CE008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29100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8C00"/>
                </a:solidFill>
              </a:defRPr>
            </a:pPr>
            <a:r>
              <a:rPr sz="1275" b="0">
                <a:solidFill>
                  <a:srgbClr val="F28C00"/>
                </a:solidFill>
              </a:rPr>
              <a:t>retrying</a:t>
            </a:r>
          </a:p>
        </p:txBody>
      </p:sp>
      <p:sp>
        <p:nvSpPr>
          <p:cNvPr id="47" name="queue-state-row-4">
            <a:extLst xmlns:a="http://schemas.openxmlformats.org/drawingml/2006/main">
              <a:ext uri="{FF2B5EF4-FFF2-40B4-BE49-F238E27FC236}">
                <a16:creationId xmlns:a16="http://schemas.microsoft.com/office/drawing/2014/main" id="{B3A1EE9E-B177-46C5-AFE5-42E81479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00575"/>
            <a:ext cx="14954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48" name="queue-state-label-4">
            <a:extLst xmlns:a="http://schemas.openxmlformats.org/drawingml/2006/main">
              <a:ext uri="{FF2B5EF4-FFF2-40B4-BE49-F238E27FC236}">
                <a16:creationId xmlns:a16="http://schemas.microsoft.com/office/drawing/2014/main" id="{663BABB8-5567-4FB2-B9DC-A7AD5170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60057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11D1D"/>
                </a:solidFill>
              </a:defRPr>
            </a:pPr>
            <a:r>
              <a:rPr sz="1275" b="0">
                <a:solidFill>
                  <a:srgbClr val="E11D1D"/>
                </a:solidFill>
              </a:rPr>
              <a:t>failed</a:t>
            </a:r>
          </a:p>
        </p:txBody>
      </p:sp>
      <p:sp>
        <p:nvSpPr>
          <p:cNvPr id="49" name="queue-state-ellipsis">
            <a:extLst xmlns:a="http://schemas.openxmlformats.org/drawingml/2006/main">
              <a:ext uri="{FF2B5EF4-FFF2-40B4-BE49-F238E27FC236}">
                <a16:creationId xmlns:a16="http://schemas.microsoft.com/office/drawing/2014/main" id="{F740551B-F4AB-4782-A33D-4A051E02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9434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44444"/>
                </a:solidFill>
              </a:defRPr>
            </a:pPr>
            <a:r>
              <a:rPr sz="1875" b="0">
                <a:solidFill>
                  <a:srgbClr val="444444"/>
                </a:solidFill>
              </a:rPr>
              <a:t>⋮</a:t>
            </a:r>
          </a:p>
        </p:txBody>
      </p:sp>
      <p:sp>
        <p:nvSpPr>
          <p:cNvPr id="50" name="bullet-divider">
            <a:extLst xmlns:a="http://schemas.openxmlformats.org/drawingml/2006/main">
              <a:ext uri="{FF2B5EF4-FFF2-40B4-BE49-F238E27FC236}">
                <a16:creationId xmlns:a16="http://schemas.microsoft.com/office/drawing/2014/main" id="{1BFF3868-6F64-4CB9-86D5-DE972F53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81650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left-bullet-dot-1">
            <a:extLst xmlns:a="http://schemas.openxmlformats.org/drawingml/2006/main">
              <a:ext uri="{FF2B5EF4-FFF2-40B4-BE49-F238E27FC236}">
                <a16:creationId xmlns:a16="http://schemas.microsoft.com/office/drawing/2014/main" id="{E17BC028-DEBA-4B9F-890D-8DC413C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52" name="left-bullet-1">
            <a:extLst xmlns:a="http://schemas.openxmlformats.org/drawingml/2006/main">
              <a:ext uri="{FF2B5EF4-FFF2-40B4-BE49-F238E27FC236}">
                <a16:creationId xmlns:a16="http://schemas.microsoft.com/office/drawing/2014/main" id="{C45F833F-876D-464B-BF05-30EE7CDA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530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상태와 실행 신호가 서로 다른 시스템에 저장됨</a:t>
            </a:r>
          </a:p>
        </p:txBody>
      </p:sp>
      <p:sp>
        <p:nvSpPr>
          <p:cNvPr id="53" name="left-bullet-dot-2">
            <a:extLst xmlns:a="http://schemas.openxmlformats.org/drawingml/2006/main">
              <a:ext uri="{FF2B5EF4-FFF2-40B4-BE49-F238E27FC236}">
                <a16:creationId xmlns:a16="http://schemas.microsoft.com/office/drawing/2014/main" id="{8DCFA365-C3D1-4583-BB6C-8C8EE50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54" name="left-bullet-2">
            <a:extLst xmlns:a="http://schemas.openxmlformats.org/drawingml/2006/main">
              <a:ext uri="{FF2B5EF4-FFF2-40B4-BE49-F238E27FC236}">
                <a16:creationId xmlns:a16="http://schemas.microsoft.com/office/drawing/2014/main" id="{80B1715D-36EB-47B9-8B8F-DC7B3A0A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912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전달 실패·재시도 시 상태 불일치 발생</a:t>
            </a:r>
          </a:p>
        </p:txBody>
      </p:sp>
      <p:sp>
        <p:nvSpPr>
          <p:cNvPr id="55" name="left-bullet-dot-3">
            <a:extLst xmlns:a="http://schemas.openxmlformats.org/drawingml/2006/main">
              <a:ext uri="{FF2B5EF4-FFF2-40B4-BE49-F238E27FC236}">
                <a16:creationId xmlns:a16="http://schemas.microsoft.com/office/drawing/2014/main" id="{21CF9AC4-9061-40F7-9842-FD06A49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56" name="left-bullet-3">
            <a:extLst xmlns:a="http://schemas.openxmlformats.org/drawingml/2006/main">
              <a:ext uri="{FF2B5EF4-FFF2-40B4-BE49-F238E27FC236}">
                <a16:creationId xmlns:a16="http://schemas.microsoft.com/office/drawing/2014/main" id="{9FBBE073-2CCB-4DFA-9B04-14609420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29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복구 지점과 재실행 범위 판단이 어려움</a:t>
            </a:r>
          </a:p>
        </p:txBody>
      </p:sp>
      <p:sp>
        <p:nvSpPr>
          <p:cNvPr id="57" name="example-card-1">
            <a:extLst xmlns:a="http://schemas.openxmlformats.org/drawingml/2006/main">
              <a:ext uri="{FF2B5EF4-FFF2-40B4-BE49-F238E27FC236}">
                <a16:creationId xmlns:a16="http://schemas.microsoft.com/office/drawing/2014/main" id="{6FEC77B7-F8B5-4772-85A4-94DE39C9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62600"/>
            <a:ext cx="22479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7C9E8"/>
            </a:solidFill>
            <a:prstDash val="solid"/>
          </a:ln>
        </p:spPr>
      </p:sp>
      <p:sp>
        <p:nvSpPr>
          <p:cNvPr id="58" name="example-header-1">
            <a:extLst xmlns:a="http://schemas.openxmlformats.org/drawingml/2006/main">
              <a:ext uri="{FF2B5EF4-FFF2-40B4-BE49-F238E27FC236}">
                <a16:creationId xmlns:a16="http://schemas.microsoft.com/office/drawing/2014/main" id="{135392A1-E7EA-48D2-97D6-552A1B4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102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BE7"/>
                </a:solidFill>
              </a:defRPr>
            </a:pPr>
            <a:r>
              <a:rPr sz="1050" b="1">
                <a:solidFill>
                  <a:srgbClr val="0B5BE7"/>
                </a:solidFill>
              </a:rPr>
              <a:t>예시 1</a:t>
            </a:r>
          </a:p>
        </p:txBody>
      </p:sp>
      <p:sp>
        <p:nvSpPr>
          <p:cNvPr id="59" name="example-body-1">
            <a:extLst xmlns:a="http://schemas.openxmlformats.org/drawingml/2006/main">
              <a:ext uri="{FF2B5EF4-FFF2-40B4-BE49-F238E27FC236}">
                <a16:creationId xmlns:a16="http://schemas.microsoft.com/office/drawing/2014/main" id="{1A704D09-234E-4AEA-90DE-BE88366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007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DB=queued, message fail</a:t>
            </a:r>
          </a:p>
        </p:txBody>
      </p:sp>
      <p:sp>
        <p:nvSpPr>
          <p:cNvPr id="60" name="example-card-2">
            <a:extLst xmlns:a="http://schemas.openxmlformats.org/drawingml/2006/main">
              <a:ext uri="{FF2B5EF4-FFF2-40B4-BE49-F238E27FC236}">
                <a16:creationId xmlns:a16="http://schemas.microsoft.com/office/drawing/2014/main" id="{6C4ABE7E-06F2-4A2C-9EB6-AB67570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219825"/>
            <a:ext cx="22479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7C9E8"/>
            </a:solidFill>
            <a:prstDash val="solid"/>
          </a:ln>
        </p:spPr>
      </p:sp>
      <p:sp>
        <p:nvSpPr>
          <p:cNvPr id="61" name="example-header-2">
            <a:extLst xmlns:a="http://schemas.openxmlformats.org/drawingml/2006/main">
              <a:ext uri="{FF2B5EF4-FFF2-40B4-BE49-F238E27FC236}">
                <a16:creationId xmlns:a16="http://schemas.microsoft.com/office/drawing/2014/main" id="{F42778DB-21E6-4720-9C17-1AF1E7FA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267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BE7"/>
                </a:solidFill>
              </a:defRPr>
            </a:pPr>
            <a:r>
              <a:rPr sz="1050" b="1">
                <a:solidFill>
                  <a:srgbClr val="0B5BE7"/>
                </a:solidFill>
              </a:rPr>
              <a:t>예시 2</a:t>
            </a:r>
          </a:p>
        </p:txBody>
      </p:sp>
      <p:sp>
        <p:nvSpPr>
          <p:cNvPr id="62" name="example-body-2">
            <a:extLst xmlns:a="http://schemas.openxmlformats.org/drawingml/2006/main">
              <a:ext uri="{FF2B5EF4-FFF2-40B4-BE49-F238E27FC236}">
                <a16:creationId xmlns:a16="http://schemas.microsoft.com/office/drawing/2014/main" id="{0DDC6C07-A393-4602-8B5C-6188F6E4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579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Redis=retrying, DB=running</a:t>
            </a:r>
          </a:p>
        </p:txBody>
      </p:sp>
      <p:sp>
        <p:nvSpPr>
          <p:cNvPr id="63" name="transition-circle">
            <a:extLst xmlns:a="http://schemas.openxmlformats.org/drawingml/2006/main">
              <a:ext uri="{FF2B5EF4-FFF2-40B4-BE49-F238E27FC236}">
                <a16:creationId xmlns:a16="http://schemas.microsoft.com/office/drawing/2014/main" id="{C250FA59-A2E6-494F-AA68-5ED36835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1243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ransition-arrow">
            <a:extLst xmlns:a="http://schemas.openxmlformats.org/drawingml/2006/main">
              <a:ext uri="{FF2B5EF4-FFF2-40B4-BE49-F238E27FC236}">
                <a16:creationId xmlns:a16="http://schemas.microsoft.com/office/drawing/2014/main" id="{B5A9CA0B-0142-4EA9-8E6C-1292A8AE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5750"/>
            <a:ext cx="552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FFFFFF"/>
                </a:solidFill>
              </a:defRPr>
            </a:pPr>
            <a:r>
              <a:rPr sz="285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65" name="solution-db-cylinder">
            <a:extLst xmlns:a="http://schemas.openxmlformats.org/drawingml/2006/main">
              <a:ext uri="{FF2B5EF4-FFF2-40B4-BE49-F238E27FC236}">
                <a16:creationId xmlns:a16="http://schemas.microsoft.com/office/drawing/2014/main" id="{4E8E6E12-E93C-4B3C-92AE-4DB7B294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647950" cy="24288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469B"/>
            </a:solidFill>
            <a:prstDash val="solid"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c355d45004677"/>
          <a:stretch xmlns:a="http://schemas.openxmlformats.org/drawingml/2006/main"/>
        </p:blipFill>
        <p:spPr>
          <a:xfrm xmlns:a="http://schemas.openxmlformats.org/drawingml/2006/main">
            <a:off x="8591550" y="2733675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67" name="postgres-right-label">
            <a:extLst xmlns:a="http://schemas.openxmlformats.org/drawingml/2006/main">
              <a:ext uri="{FF2B5EF4-FFF2-40B4-BE49-F238E27FC236}">
                <a16:creationId xmlns:a16="http://schemas.microsoft.com/office/drawing/2014/main" id="{2DB7993A-08BE-4246-934C-15ADFC65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4FC8"/>
                </a:solidFill>
              </a:defRPr>
            </a:pPr>
            <a:r>
              <a:rPr sz="1650" b="1">
                <a:solidFill>
                  <a:srgbClr val="0A4FC8"/>
                </a:solidFill>
              </a:rPr>
              <a:t>PostgreSQL</a:t>
            </a:r>
          </a:p>
        </p:txBody>
      </p:sp>
      <p:sp>
        <p:nvSpPr>
          <p:cNvPr id="68" name="solution-row-1">
            <a:extLst xmlns:a="http://schemas.openxmlformats.org/drawingml/2006/main">
              <a:ext uri="{FF2B5EF4-FFF2-40B4-BE49-F238E27FC236}">
                <a16:creationId xmlns:a16="http://schemas.microsoft.com/office/drawing/2014/main" id="{C89274F8-4959-45D6-BCC4-9D80379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21621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086D9"/>
            </a:solidFill>
            <a:prstDash val="solid"/>
          </a:ln>
        </p:spPr>
      </p:sp>
      <p:sp>
        <p:nvSpPr>
          <p:cNvPr id="69" name="solution-row-icon-1-dot-1">
            <a:extLst xmlns:a="http://schemas.openxmlformats.org/drawingml/2006/main">
              <a:ext uri="{FF2B5EF4-FFF2-40B4-BE49-F238E27FC236}">
                <a16:creationId xmlns:a16="http://schemas.microsoft.com/office/drawing/2014/main" id="{63820F5A-B26B-4F4D-A206-B13DB7C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099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olution-row-icon-1-line-1">
            <a:extLst xmlns:a="http://schemas.openxmlformats.org/drawingml/2006/main">
              <a:ext uri="{FF2B5EF4-FFF2-40B4-BE49-F238E27FC236}">
                <a16:creationId xmlns:a16="http://schemas.microsoft.com/office/drawing/2014/main" id="{4131F2B6-1B7D-42C8-9B05-CF5218E5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09950"/>
            <a:ext cx="171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olution-row-icon-1-dot-2">
            <a:extLst xmlns:a="http://schemas.openxmlformats.org/drawingml/2006/main">
              <a:ext uri="{FF2B5EF4-FFF2-40B4-BE49-F238E27FC236}">
                <a16:creationId xmlns:a16="http://schemas.microsoft.com/office/drawing/2014/main" id="{37768920-D181-4DA5-BE2A-DE51C6AF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86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solution-row-icon-1-line-2">
            <a:extLst xmlns:a="http://schemas.openxmlformats.org/drawingml/2006/main">
              <a:ext uri="{FF2B5EF4-FFF2-40B4-BE49-F238E27FC236}">
                <a16:creationId xmlns:a16="http://schemas.microsoft.com/office/drawing/2014/main" id="{34826F6E-6D5F-4446-8456-8006303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86150"/>
            <a:ext cx="171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olution-row-icon-1-dot-3">
            <a:extLst xmlns:a="http://schemas.openxmlformats.org/drawingml/2006/main">
              <a:ext uri="{FF2B5EF4-FFF2-40B4-BE49-F238E27FC236}">
                <a16:creationId xmlns:a16="http://schemas.microsoft.com/office/drawing/2014/main" id="{2DB1C11F-00AA-40D1-8C15-76C19764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562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olution-row-icon-1-line-3">
            <a:extLst xmlns:a="http://schemas.openxmlformats.org/drawingml/2006/main">
              <a:ext uri="{FF2B5EF4-FFF2-40B4-BE49-F238E27FC236}">
                <a16:creationId xmlns:a16="http://schemas.microsoft.com/office/drawing/2014/main" id="{47D40BBC-941A-4FB6-BAFA-1FFAAC19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62350"/>
            <a:ext cx="171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solution-row-label-1">
            <a:extLst xmlns:a="http://schemas.openxmlformats.org/drawingml/2006/main">
              <a:ext uri="{FF2B5EF4-FFF2-40B4-BE49-F238E27FC236}">
                <a16:creationId xmlns:a16="http://schemas.microsoft.com/office/drawing/2014/main" id="{44215626-C5A1-4311-950B-6C3A9C0D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242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5BE7"/>
                </a:solidFill>
              </a:defRPr>
            </a:pPr>
            <a:r>
              <a:rPr sz="1425" b="1">
                <a:solidFill>
                  <a:srgbClr val="0B5BE7"/>
                </a:solidFill>
              </a:rPr>
              <a:t>Queue</a:t>
            </a:r>
          </a:p>
        </p:txBody>
      </p:sp>
      <p:sp>
        <p:nvSpPr>
          <p:cNvPr id="76" name="solution-row-2">
            <a:extLst xmlns:a="http://schemas.openxmlformats.org/drawingml/2006/main">
              <a:ext uri="{FF2B5EF4-FFF2-40B4-BE49-F238E27FC236}">
                <a16:creationId xmlns:a16="http://schemas.microsoft.com/office/drawing/2014/main" id="{D7C39F74-06B1-4EC0-B293-9F3B6C0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38575"/>
            <a:ext cx="21621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086D9"/>
            </a:solidFill>
            <a:prstDash val="solid"/>
          </a:ln>
        </p:spPr>
      </p:sp>
      <p:sp>
        <p:nvSpPr>
          <p:cNvPr id="77" name="checkpoint-bookmark">
            <a:extLst xmlns:a="http://schemas.openxmlformats.org/drawingml/2006/main">
              <a:ext uri="{FF2B5EF4-FFF2-40B4-BE49-F238E27FC236}">
                <a16:creationId xmlns:a16="http://schemas.microsoft.com/office/drawing/2014/main" id="{8C446CAF-9D30-4F3F-B23F-5604C6D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52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BE7"/>
            </a:solidFill>
            <a:prstDash val="solid"/>
          </a:ln>
        </p:spPr>
      </p:sp>
      <p:sp>
        <p:nvSpPr>
          <p:cNvPr id="78" name="checkpoint-notch">
            <a:extLst xmlns:a="http://schemas.openxmlformats.org/drawingml/2006/main">
              <a:ext uri="{FF2B5EF4-FFF2-40B4-BE49-F238E27FC236}">
                <a16:creationId xmlns:a16="http://schemas.microsoft.com/office/drawing/2014/main" id="{C0652568-F6BB-4E76-9163-9E734EB5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0576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5BE7"/>
                </a:solidFill>
              </a:defRPr>
            </a:pPr>
            <a:r>
              <a:rPr sz="1200" b="0">
                <a:solidFill>
                  <a:srgbClr val="0B5BE7"/>
                </a:solidFill>
              </a:rPr>
              <a:t>⌄</a:t>
            </a:r>
          </a:p>
        </p:txBody>
      </p:sp>
      <p:sp>
        <p:nvSpPr>
          <p:cNvPr id="79" name="solution-row-label-2">
            <a:extLst xmlns:a="http://schemas.openxmlformats.org/drawingml/2006/main">
              <a:ext uri="{FF2B5EF4-FFF2-40B4-BE49-F238E27FC236}">
                <a16:creationId xmlns:a16="http://schemas.microsoft.com/office/drawing/2014/main" id="{294260F2-B586-4A1C-9287-524626C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766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5BE7"/>
                </a:solidFill>
              </a:defRPr>
            </a:pPr>
            <a:r>
              <a:rPr sz="1425" b="1">
                <a:solidFill>
                  <a:srgbClr val="0B5BE7"/>
                </a:solidFill>
              </a:rPr>
              <a:t>Checkpoint</a:t>
            </a:r>
          </a:p>
        </p:txBody>
      </p:sp>
      <p:sp>
        <p:nvSpPr>
          <p:cNvPr id="80" name="solution-row-3">
            <a:extLst xmlns:a="http://schemas.openxmlformats.org/drawingml/2006/main">
              <a:ext uri="{FF2B5EF4-FFF2-40B4-BE49-F238E27FC236}">
                <a16:creationId xmlns:a16="http://schemas.microsoft.com/office/drawing/2014/main" id="{14E8FF0F-38C8-4B0F-BD4D-7E9B68D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91025"/>
            <a:ext cx="21621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086D9"/>
            </a:solidFill>
            <a:prstDash val="solid"/>
          </a:ln>
        </p:spPr>
      </p:sp>
      <p:sp>
        <p:nvSpPr>
          <p:cNvPr id="81" name="solution-row-icon-3-dot-1">
            <a:extLst xmlns:a="http://schemas.openxmlformats.org/drawingml/2006/main">
              <a:ext uri="{FF2B5EF4-FFF2-40B4-BE49-F238E27FC236}">
                <a16:creationId xmlns:a16="http://schemas.microsoft.com/office/drawing/2014/main" id="{2ECF7616-B7BC-4F5E-B827-6C7A046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514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olution-row-icon-3-line-1">
            <a:extLst xmlns:a="http://schemas.openxmlformats.org/drawingml/2006/main">
              <a:ext uri="{FF2B5EF4-FFF2-40B4-BE49-F238E27FC236}">
                <a16:creationId xmlns:a16="http://schemas.microsoft.com/office/drawing/2014/main" id="{B4CD3A78-312B-42BE-A8B8-32085424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14850"/>
            <a:ext cx="171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solution-row-icon-3-dot-2">
            <a:extLst xmlns:a="http://schemas.openxmlformats.org/drawingml/2006/main">
              <a:ext uri="{FF2B5EF4-FFF2-40B4-BE49-F238E27FC236}">
                <a16:creationId xmlns:a16="http://schemas.microsoft.com/office/drawing/2014/main" id="{68486257-F7C0-450E-AE6A-E9950C1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5910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solution-row-icon-3-line-2">
            <a:extLst xmlns:a="http://schemas.openxmlformats.org/drawingml/2006/main">
              <a:ext uri="{FF2B5EF4-FFF2-40B4-BE49-F238E27FC236}">
                <a16:creationId xmlns:a16="http://schemas.microsoft.com/office/drawing/2014/main" id="{7A60CA58-DF92-42F8-8745-358191AE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91050"/>
            <a:ext cx="171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solution-row-icon-3-dot-3">
            <a:extLst xmlns:a="http://schemas.openxmlformats.org/drawingml/2006/main">
              <a:ext uri="{FF2B5EF4-FFF2-40B4-BE49-F238E27FC236}">
                <a16:creationId xmlns:a16="http://schemas.microsoft.com/office/drawing/2014/main" id="{974B063D-F691-4F34-9797-2DF23AC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667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solution-row-icon-3-line-3">
            <a:extLst xmlns:a="http://schemas.openxmlformats.org/drawingml/2006/main">
              <a:ext uri="{FF2B5EF4-FFF2-40B4-BE49-F238E27FC236}">
                <a16:creationId xmlns:a16="http://schemas.microsoft.com/office/drawing/2014/main" id="{123A546D-DA27-47EB-BCFA-C5E0C3CF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67250"/>
            <a:ext cx="171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solution-row-label-3">
            <a:extLst xmlns:a="http://schemas.openxmlformats.org/drawingml/2006/main">
              <a:ext uri="{FF2B5EF4-FFF2-40B4-BE49-F238E27FC236}">
                <a16:creationId xmlns:a16="http://schemas.microsoft.com/office/drawing/2014/main" id="{E2026F2B-6ECA-4402-B5C1-0E8926E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5BE7"/>
                </a:solidFill>
              </a:defRPr>
            </a:pPr>
            <a:r>
              <a:rPr sz="1425" b="1">
                <a:solidFill>
                  <a:srgbClr val="0B5BE7"/>
                </a:solidFill>
              </a:rPr>
              <a:t>Stage State</a:t>
            </a:r>
          </a:p>
        </p:txBody>
      </p:sp>
      <p:sp>
        <p:nvSpPr>
          <p:cNvPr id="88" name="skip-caption">
            <a:extLst xmlns:a="http://schemas.openxmlformats.org/drawingml/2006/main">
              <a:ext uri="{FF2B5EF4-FFF2-40B4-BE49-F238E27FC236}">
                <a16:creationId xmlns:a16="http://schemas.microsoft.com/office/drawing/2014/main" id="{D8713D95-CDB1-4699-B723-DCC5F4F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11467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하나의 아이템을 가져감</a:t>
            </a:r>
          </a:p>
        </p:txBody>
      </p:sp>
      <p:sp>
        <p:nvSpPr>
          <p:cNvPr id="89" name="db-to-skip-start">
            <a:extLst xmlns:a="http://schemas.openxmlformats.org/drawingml/2006/main">
              <a:ext uri="{FF2B5EF4-FFF2-40B4-BE49-F238E27FC236}">
                <a16:creationId xmlns:a16="http://schemas.microsoft.com/office/drawing/2014/main" id="{EBB36FD1-7831-4461-926C-B08DE3F3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752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db-to-skip-end">
            <a:extLst xmlns:a="http://schemas.openxmlformats.org/drawingml/2006/main">
              <a:ext uri="{FF2B5EF4-FFF2-40B4-BE49-F238E27FC236}">
                <a16:creationId xmlns:a16="http://schemas.microsoft.com/office/drawing/2014/main" id="{91E2B057-E2AC-4355-A05C-51441A24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752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db-to-skip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10763250" y="3757613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dash"/>
            <a:tailEnd type="triangle" w="sm" len="sm"/>
          </a:ln>
        </p:spPr>
      </p:cxnSp>
      <p:sp>
        <p:nvSpPr>
          <p:cNvPr id="92" name="skip-locked-box">
            <a:extLst xmlns:a="http://schemas.openxmlformats.org/drawingml/2006/main">
              <a:ext uri="{FF2B5EF4-FFF2-40B4-BE49-F238E27FC236}">
                <a16:creationId xmlns:a16="http://schemas.microsoft.com/office/drawing/2014/main" id="{7ED69C5A-C873-424E-A8BB-8DF60766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533775"/>
            <a:ext cx="1676400" cy="447675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kip-locked-label">
            <a:extLst xmlns:a="http://schemas.openxmlformats.org/drawingml/2006/main">
              <a:ext uri="{FF2B5EF4-FFF2-40B4-BE49-F238E27FC236}">
                <a16:creationId xmlns:a16="http://schemas.microsoft.com/office/drawing/2014/main" id="{3B28C948-71FA-459D-8840-63D26DA2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552825"/>
            <a:ext cx="1638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SKIP LOCKED</a:t>
            </a:r>
          </a:p>
        </p:txBody>
      </p:sp>
      <p:sp>
        <p:nvSpPr>
          <p:cNvPr id="94" name="skip-to-worker-start">
            <a:extLst xmlns:a="http://schemas.openxmlformats.org/drawingml/2006/main">
              <a:ext uri="{FF2B5EF4-FFF2-40B4-BE49-F238E27FC236}">
                <a16:creationId xmlns:a16="http://schemas.microsoft.com/office/drawing/2014/main" id="{8BBE6449-CA5B-44E2-B80B-F1EEB175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3752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5" name="skip-to-worker-end">
            <a:extLst xmlns:a="http://schemas.openxmlformats.org/drawingml/2006/main">
              <a:ext uri="{FF2B5EF4-FFF2-40B4-BE49-F238E27FC236}">
                <a16:creationId xmlns:a16="http://schemas.microsoft.com/office/drawing/2014/main" id="{6F182CFF-3ACB-455B-9202-F9EBCF5F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752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skip-to-worker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3163550" y="3757613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dash"/>
            <a:tailEnd type="triangle" w="sm" len="sm"/>
          </a:ln>
        </p:spPr>
      </p:cxn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c920cad8b4d15"/>
          <a:stretch xmlns:a="http://schemas.openxmlformats.org/drawingml/2006/main"/>
        </p:blipFill>
        <p:spPr>
          <a:xfrm xmlns:a="http://schemas.openxmlformats.org/drawingml/2006/main">
            <a:off x="13487400" y="3228975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98" name="worker-label">
            <a:extLst xmlns:a="http://schemas.openxmlformats.org/drawingml/2006/main">
              <a:ext uri="{FF2B5EF4-FFF2-40B4-BE49-F238E27FC236}">
                <a16:creationId xmlns:a16="http://schemas.microsoft.com/office/drawing/2014/main" id="{81B52440-CFBC-4609-B800-29E837F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3910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Worker</a:t>
            </a:r>
          </a:p>
        </p:txBody>
      </p:sp>
      <p:sp>
        <p:nvSpPr>
          <p:cNvPr id="99" name="transaction-banner">
            <a:extLst xmlns:a="http://schemas.openxmlformats.org/drawingml/2006/main">
              <a:ext uri="{FF2B5EF4-FFF2-40B4-BE49-F238E27FC236}">
                <a16:creationId xmlns:a16="http://schemas.microsoft.com/office/drawing/2014/main" id="{BF2CBDAE-09BD-4272-8604-0FE07296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552450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5BE7"/>
            </a:solidFill>
            <a:prstDash val="solid"/>
          </a:ln>
        </p:spPr>
      </p:sp>
      <p:sp>
        <p:nvSpPr>
          <p:cNvPr id="100" name="transaction-banner-label">
            <a:extLst xmlns:a="http://schemas.openxmlformats.org/drawingml/2006/main">
              <a:ext uri="{FF2B5EF4-FFF2-40B4-BE49-F238E27FC236}">
                <a16:creationId xmlns:a16="http://schemas.microsoft.com/office/drawing/2014/main" id="{C24214AF-5A7F-4D00-87E6-F876BFC1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768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5BE7"/>
                </a:solidFill>
              </a:defRPr>
            </a:pPr>
            <a:r>
              <a:rPr sz="1650" b="1">
                <a:solidFill>
                  <a:srgbClr val="0B5BE7"/>
                </a:solidFill>
              </a:rPr>
              <a:t>선점 + 상태 변경 + 체크포인트 기록 = 1 트랜잭션</a:t>
            </a:r>
          </a:p>
        </p:txBody>
      </p:sp>
      <p:sp>
        <p:nvSpPr>
          <p:cNvPr id="101" name="benefit-consistency-circle">
            <a:extLst xmlns:a="http://schemas.openxmlformats.org/drawingml/2006/main">
              <a:ext uri="{FF2B5EF4-FFF2-40B4-BE49-F238E27FC236}">
                <a16:creationId xmlns:a16="http://schemas.microsoft.com/office/drawing/2014/main" id="{E17CF6A2-3788-4885-B380-29F380B0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benefit-consistency-tick">
            <a:extLst xmlns:a="http://schemas.openxmlformats.org/drawingml/2006/main">
              <a:ext uri="{FF2B5EF4-FFF2-40B4-BE49-F238E27FC236}">
                <a16:creationId xmlns:a16="http://schemas.microsoft.com/office/drawing/2014/main" id="{252EB74C-A9E4-40E7-91FC-CD8BB02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3" name="benefit-consistency-label">
            <a:extLst xmlns:a="http://schemas.openxmlformats.org/drawingml/2006/main">
              <a:ext uri="{FF2B5EF4-FFF2-40B4-BE49-F238E27FC236}">
                <a16:creationId xmlns:a16="http://schemas.microsoft.com/office/drawing/2014/main" id="{63B54642-9203-4769-B328-FFFE6960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01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정합성 있는 실행 상태 유지</a:t>
            </a:r>
          </a:p>
        </p:txBody>
      </p:sp>
      <p:sp>
        <p:nvSpPr>
          <p:cNvPr id="104" name="benefit-success-circle">
            <a:extLst xmlns:a="http://schemas.openxmlformats.org/drawingml/2006/main">
              <a:ext uri="{FF2B5EF4-FFF2-40B4-BE49-F238E27FC236}">
                <a16:creationId xmlns:a16="http://schemas.microsoft.com/office/drawing/2014/main" id="{F9CE7D7B-A76C-47E5-BD50-93D1CE1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038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benefit-success-tick">
            <a:extLst xmlns:a="http://schemas.openxmlformats.org/drawingml/2006/main">
              <a:ext uri="{FF2B5EF4-FFF2-40B4-BE49-F238E27FC236}">
                <a16:creationId xmlns:a16="http://schemas.microsoft.com/office/drawing/2014/main" id="{16EACC42-A65B-469F-A4F3-4B0EBCA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0102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6" name="benefit-success-label">
            <a:extLst xmlns:a="http://schemas.openxmlformats.org/drawingml/2006/main">
              <a:ext uri="{FF2B5EF4-FFF2-40B4-BE49-F238E27FC236}">
                <a16:creationId xmlns:a16="http://schemas.microsoft.com/office/drawing/2014/main" id="{02058819-F820-4E10-95BE-9FB7553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019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성공 결과는 보존</a:t>
            </a:r>
          </a:p>
        </p:txBody>
      </p:sp>
      <p:sp>
        <p:nvSpPr>
          <p:cNvPr id="107" name="benefit-dedupe-circle">
            <a:extLst xmlns:a="http://schemas.openxmlformats.org/drawingml/2006/main">
              <a:ext uri="{FF2B5EF4-FFF2-40B4-BE49-F238E27FC236}">
                <a16:creationId xmlns:a16="http://schemas.microsoft.com/office/drawing/2014/main" id="{169A2356-F7DE-47B5-8937-E6A14DDA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96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benefit-dedupe-tick">
            <a:extLst xmlns:a="http://schemas.openxmlformats.org/drawingml/2006/main">
              <a:ext uri="{FF2B5EF4-FFF2-40B4-BE49-F238E27FC236}">
                <a16:creationId xmlns:a16="http://schemas.microsoft.com/office/drawing/2014/main" id="{406C8664-8475-4B8C-9243-BA72306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674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9" name="benefit-dedupe-label">
            <a:extLst xmlns:a="http://schemas.openxmlformats.org/drawingml/2006/main">
              <a:ext uri="{FF2B5EF4-FFF2-40B4-BE49-F238E27FC236}">
                <a16:creationId xmlns:a16="http://schemas.microsoft.com/office/drawing/2014/main" id="{DCF94C7D-3C7A-4DD6-A039-C7E89668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77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중복 실행과 데드 레터 방지</a:t>
            </a:r>
          </a:p>
        </p:txBody>
      </p:sp>
      <p:sp>
        <p:nvSpPr>
          <p:cNvPr id="110" name="benefit-resume-circle">
            <a:extLst xmlns:a="http://schemas.openxmlformats.org/drawingml/2006/main">
              <a:ext uri="{FF2B5EF4-FFF2-40B4-BE49-F238E27FC236}">
                <a16:creationId xmlns:a16="http://schemas.microsoft.com/office/drawing/2014/main" id="{7E21F11D-BE26-414D-A636-BB631BA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benefit-resume-tick">
            <a:extLst xmlns:a="http://schemas.openxmlformats.org/drawingml/2006/main">
              <a:ext uri="{FF2B5EF4-FFF2-40B4-BE49-F238E27FC236}">
                <a16:creationId xmlns:a16="http://schemas.microsoft.com/office/drawing/2014/main" id="{7DF7B036-3F48-4EC8-860F-714DB57B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2" name="benefit-resume-label">
            <a:extLst xmlns:a="http://schemas.openxmlformats.org/drawingml/2006/main">
              <a:ext uri="{FF2B5EF4-FFF2-40B4-BE49-F238E27FC236}">
                <a16:creationId xmlns:a16="http://schemas.microsoft.com/office/drawing/2014/main" id="{D0C3F81B-F5D0-4BF6-88D1-7C2ADC25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47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실패한 Stage부터 재개</a:t>
            </a:r>
          </a:p>
        </p:txBody>
      </p:sp>
      <p:sp>
        <p:nvSpPr>
          <p:cNvPr id="113" name="footer-left-rule">
            <a:extLst xmlns:a="http://schemas.openxmlformats.org/drawingml/2006/main">
              <a:ext uri="{FF2B5EF4-FFF2-40B4-BE49-F238E27FC236}">
                <a16:creationId xmlns:a16="http://schemas.microsoft.com/office/drawing/2014/main" id="{75F148E8-83BC-43F5-B3AF-452862D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7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footer-right-rule">
            <a:extLst xmlns:a="http://schemas.openxmlformats.org/drawingml/2006/main">
              <a:ext uri="{FF2B5EF4-FFF2-40B4-BE49-F238E27FC236}">
                <a16:creationId xmlns:a16="http://schemas.microsoft.com/office/drawing/2014/main" id="{145CB277-5305-4D55-9576-83B7715D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2390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7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footer-star">
            <a:extLst xmlns:a="http://schemas.openxmlformats.org/drawingml/2006/main">
              <a:ext uri="{FF2B5EF4-FFF2-40B4-BE49-F238E27FC236}">
                <a16:creationId xmlns:a16="http://schemas.microsoft.com/office/drawing/2014/main" id="{246652A9-EADF-4CC5-9FB0-0F1E6BFD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7105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B5BE7"/>
                </a:solidFill>
              </a:defRPr>
            </a:pPr>
            <a:r>
              <a:rPr sz="1950" b="0">
                <a:solidFill>
                  <a:srgbClr val="0B5BE7"/>
                </a:solidFill>
              </a:rPr>
              <a:t>✦</a:t>
            </a:r>
          </a:p>
        </p:txBody>
      </p:sp>
      <p:sp>
        <p:nvSpPr>
          <p:cNvPr id="116" name="footer-conclusion">
            <a:extLst xmlns:a="http://schemas.openxmlformats.org/drawingml/2006/main">
              <a:ext uri="{FF2B5EF4-FFF2-40B4-BE49-F238E27FC236}">
                <a16:creationId xmlns:a16="http://schemas.microsoft.com/office/drawing/2014/main" id="{B3E7FCD8-EE1A-4BAD-8C22-29ADAC49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534275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결국, 파이프라인의 ‘진실’을 PostgreSQL 하나로 모았습니다.</a:t>
            </a:r>
          </a:p>
        </p:txBody>
      </p:sp>
      <p:sp>
        <p:nvSpPr>
          <p:cNvPr id="117" name="footer-blue-underline">
            <a:extLst xmlns:a="http://schemas.openxmlformats.org/drawingml/2006/main">
              <a:ext uri="{FF2B5EF4-FFF2-40B4-BE49-F238E27FC236}">
                <a16:creationId xmlns:a16="http://schemas.microsoft.com/office/drawing/2014/main" id="{F1312EA7-9E2C-45B4-94E2-6E1F8B78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115300"/>
            <a:ext cx="557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B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6543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2026-07-24T15:05:43.7270000Z</dcterms:created>
  <dcterms:modified xsi:type="dcterms:W3CDTF">2026-07-24T15:05:43.7270000Z</dcterms:modified>
</coreProperties>
</file>